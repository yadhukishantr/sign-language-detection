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07A8AC-7C98-472B-A0A0-478456AD6C9D}" v="1229" dt="2025-09-25T07:53:52.412"/>
    <p1510:client id="{E2467DFD-D631-4E06-95E7-8FD034A19B4B}" v="391" dt="2025-09-25T08:17:58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462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35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831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00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32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759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74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532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0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38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005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912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673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21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45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199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17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92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a2ARoUUdU8&amp;t=2943s" TargetMode="External"/><Relationship Id="rId2" Type="http://schemas.openxmlformats.org/officeDocument/2006/relationships/hyperlink" Target="https://www.kaggle.com/datasets/datamunge/sign-language-mnis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Sign Language Translator Using CNN and CVZONE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Name: Yadhu Kishan T R </a:t>
            </a:r>
          </a:p>
          <a:p>
            <a:r>
              <a:rPr lang="en-US" dirty="0"/>
              <a:t>Training Center: ICFOSS 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8633-EDBC-6E23-4850-1DE4AD48B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Project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6FACB-020F-7366-5D04-AC1C27628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Implemented CNN to classify sign language gestures</a:t>
            </a:r>
          </a:p>
          <a:p>
            <a:pPr>
              <a:buClr>
                <a:srgbClr val="B96C11"/>
              </a:buClr>
            </a:pPr>
            <a:r>
              <a:rPr lang="en-US" dirty="0"/>
              <a:t>The Dataset used is American Sign Language MNIST from </a:t>
            </a:r>
            <a:r>
              <a:rPr lang="en-US" err="1"/>
              <a:t>kaggle</a:t>
            </a:r>
            <a:endParaRPr lang="en-US"/>
          </a:p>
          <a:p>
            <a:pPr>
              <a:buClr>
                <a:srgbClr val="B96C11"/>
              </a:buClr>
            </a:pPr>
            <a:r>
              <a:rPr lang="en-US" dirty="0"/>
              <a:t>Tools like Google </a:t>
            </a:r>
            <a:r>
              <a:rPr lang="en-US" dirty="0" err="1"/>
              <a:t>Colab,PyTorch,OpenCV</a:t>
            </a:r>
            <a:r>
              <a:rPr lang="en-US" dirty="0"/>
              <a:t> and </a:t>
            </a:r>
            <a:r>
              <a:rPr lang="en-US" dirty="0" err="1"/>
              <a:t>CVZone</a:t>
            </a:r>
            <a:r>
              <a:rPr lang="en-US" dirty="0"/>
              <a:t> was used to create this project</a:t>
            </a:r>
          </a:p>
          <a:p>
            <a:pPr>
              <a:buClr>
                <a:srgbClr val="B96C11"/>
              </a:buClr>
            </a:pPr>
            <a:r>
              <a:rPr lang="en-US" dirty="0"/>
              <a:t>I got 100% accuracy on test dataset but low real-time accuracy</a:t>
            </a:r>
          </a:p>
        </p:txBody>
      </p:sp>
    </p:spTree>
    <p:extLst>
      <p:ext uri="{BB962C8B-B14F-4D97-AF65-F5344CB8AC3E}">
        <p14:creationId xmlns:p14="http://schemas.microsoft.com/office/powerpoint/2010/main" val="3242706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8375697-2869-412A-AEB4-B32967993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ollage of hands with letters&#10;&#10;AI-generated content may be incorrect.">
            <a:extLst>
              <a:ext uri="{FF2B5EF4-FFF2-40B4-BE49-F238E27FC236}">
                <a16:creationId xmlns:a16="http://schemas.microsoft.com/office/drawing/2014/main" id="{8D9BB3C6-22B0-5419-B295-28F24B83F0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07" t="9091" r="17439"/>
          <a:stretch>
            <a:fillRect/>
          </a:stretch>
        </p:blipFill>
        <p:spPr>
          <a:xfrm>
            <a:off x="20" y="10"/>
            <a:ext cx="4726526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DE9E2D4-C94D-4382-BD75-9A451C3DC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90265" y="-12875"/>
            <a:ext cx="2604396" cy="6890194"/>
            <a:chOff x="2199787" y="-12875"/>
            <a:chExt cx="2679011" cy="6890194"/>
          </a:xfrm>
        </p:grpSpPr>
        <p:sp useBgFill="1">
          <p:nvSpPr>
            <p:cNvPr id="8" name="Rectangle 19">
              <a:extLst>
                <a:ext uri="{FF2B5EF4-FFF2-40B4-BE49-F238E27FC236}">
                  <a16:creationId xmlns:a16="http://schemas.microsoft.com/office/drawing/2014/main" id="{8348A120-519A-4F2A-BE9F-C1CC48B10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5" name="Rectangle 20">
              <a:extLst>
                <a:ext uri="{FF2B5EF4-FFF2-40B4-BE49-F238E27FC236}">
                  <a16:creationId xmlns:a16="http://schemas.microsoft.com/office/drawing/2014/main" id="{8AE68E3F-5084-4FF1-9164-9A44B19D3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884AB1D-699B-435C-BC0A-D649097B9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081C1DB-D6A0-4ED6-A4FC-16466E903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0BE09B71-5BD8-4B95-8DE8-A10B0657D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F5AAF0BD-4755-42CE-B339-2C2746BB7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3824AAED-F160-40F4-8FBB-F674A4ECF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D4B81E4-BEC2-45B9-8242-EB3960183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3CF69791-86E8-4D88-B224-E0D2775DC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74173E0-2D1B-8732-2CAF-18518598F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9" y="685800"/>
            <a:ext cx="7345891" cy="1413933"/>
          </a:xfrm>
        </p:spPr>
        <p:txBody>
          <a:bodyPr>
            <a:normAutofit/>
          </a:bodyPr>
          <a:lstStyle/>
          <a:p>
            <a:r>
              <a:rPr lang="en-US" b="1" u="sng" dirty="0"/>
              <a:t>About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47D2B-ABE4-867C-B220-8600D6E88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867" y="2048933"/>
            <a:ext cx="7659156" cy="3742267"/>
          </a:xfrm>
        </p:spPr>
        <p:txBody>
          <a:bodyPr>
            <a:normAutofit/>
          </a:bodyPr>
          <a:lstStyle/>
          <a:p>
            <a:r>
              <a:rPr lang="en-US" dirty="0"/>
              <a:t>Sign Language MNIST (CSV format)</a:t>
            </a:r>
          </a:p>
          <a:p>
            <a:pPr>
              <a:buClr>
                <a:srgbClr val="B96C11"/>
              </a:buClr>
            </a:pPr>
            <a:r>
              <a:rPr lang="en-US" dirty="0"/>
              <a:t>28*28 grayscale images, values 0-255</a:t>
            </a:r>
          </a:p>
          <a:p>
            <a:pPr>
              <a:buClr>
                <a:srgbClr val="B96C11"/>
              </a:buClr>
            </a:pPr>
            <a:r>
              <a:rPr lang="en-US" dirty="0"/>
              <a:t>27,455 training images and 7,127 test images</a:t>
            </a:r>
          </a:p>
          <a:p>
            <a:pPr>
              <a:buClr>
                <a:srgbClr val="B96C11"/>
              </a:buClr>
            </a:pPr>
            <a:r>
              <a:rPr lang="en-US" dirty="0"/>
              <a:t>Letters A-Z (excluding J and Z due to motion)</a:t>
            </a:r>
          </a:p>
        </p:txBody>
      </p:sp>
    </p:spTree>
    <p:extLst>
      <p:ext uri="{BB962C8B-B14F-4D97-AF65-F5344CB8AC3E}">
        <p14:creationId xmlns:p14="http://schemas.microsoft.com/office/powerpoint/2010/main" val="195005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50CD-DDAE-6F5E-E900-F9D58D6F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Implementation 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E4D4E-EC85-39B6-818F-FBCFD4E45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is done in Google </a:t>
            </a:r>
            <a:r>
              <a:rPr lang="en-US" dirty="0" err="1"/>
              <a:t>Colab</a:t>
            </a:r>
            <a:r>
              <a:rPr lang="en-US" dirty="0"/>
              <a:t> with </a:t>
            </a:r>
            <a:r>
              <a:rPr lang="en-US" dirty="0" err="1"/>
              <a:t>PyTorch</a:t>
            </a:r>
            <a:r>
              <a:rPr lang="en-US" dirty="0"/>
              <a:t> CNN</a:t>
            </a:r>
          </a:p>
          <a:p>
            <a:pPr>
              <a:buClr>
                <a:srgbClr val="B96C11"/>
              </a:buClr>
            </a:pPr>
            <a:r>
              <a:rPr lang="en-US" dirty="0"/>
              <a:t>Real-time testing in PyCharm with OpenCV + </a:t>
            </a:r>
            <a:r>
              <a:rPr lang="en-US" err="1"/>
              <a:t>CVZone</a:t>
            </a:r>
            <a:endParaRPr lang="en-US"/>
          </a:p>
          <a:p>
            <a:pPr>
              <a:buClr>
                <a:srgbClr val="B96C11"/>
              </a:buClr>
            </a:pPr>
            <a:r>
              <a:rPr lang="en-US" dirty="0"/>
              <a:t>Based on a  tutorial (Murtaza's Workshop):</a:t>
            </a:r>
          </a:p>
          <a:p>
            <a:pPr lvl="1">
              <a:buClr>
                <a:srgbClr val="B96C11"/>
              </a:buClr>
              <a:buFont typeface="Courier New"/>
              <a:buChar char="o"/>
            </a:pPr>
            <a:r>
              <a:rPr lang="en-US" dirty="0"/>
              <a:t>Tutorial: Used Teachable Machine and .h5 model file format</a:t>
            </a:r>
          </a:p>
          <a:p>
            <a:pPr lvl="1">
              <a:buClr>
                <a:srgbClr val="B96C11"/>
              </a:buClr>
              <a:buFont typeface="Courier New"/>
              <a:buChar char="o"/>
            </a:pPr>
            <a:r>
              <a:rPr lang="en-US" dirty="0"/>
              <a:t>My Project: Custom CNN in </a:t>
            </a:r>
            <a:r>
              <a:rPr lang="en-US" dirty="0" err="1"/>
              <a:t>PyTorch</a:t>
            </a:r>
            <a:r>
              <a:rPr lang="en-US" dirty="0"/>
              <a:t>, .</a:t>
            </a:r>
            <a:r>
              <a:rPr lang="en-US" dirty="0" err="1"/>
              <a:t>pth</a:t>
            </a:r>
            <a:r>
              <a:rPr lang="en-US" dirty="0"/>
              <a:t> model file format</a:t>
            </a:r>
          </a:p>
        </p:txBody>
      </p:sp>
    </p:spTree>
    <p:extLst>
      <p:ext uri="{BB962C8B-B14F-4D97-AF65-F5344CB8AC3E}">
        <p14:creationId xmlns:p14="http://schemas.microsoft.com/office/powerpoint/2010/main" val="2593075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15290-D646-EDF2-4FED-EB44DEF9F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5747778" cy="1752599"/>
          </a:xfrm>
        </p:spPr>
        <p:txBody>
          <a:bodyPr>
            <a:normAutofit/>
          </a:bodyPr>
          <a:lstStyle/>
          <a:p>
            <a:r>
              <a:rPr lang="en-US" b="1" u="sng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877E7-7844-C32C-5F8B-1D3CE675B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5747778" cy="3124201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AutoNum type="arabicPeriod"/>
            </a:pPr>
            <a:r>
              <a:rPr lang="en-US" dirty="0"/>
              <a:t>Data </a:t>
            </a:r>
            <a:r>
              <a:rPr lang="en-US" dirty="0" err="1"/>
              <a:t>Preperation</a:t>
            </a:r>
            <a:endParaRPr lang="en-US" err="1"/>
          </a:p>
          <a:p>
            <a:pPr marL="914400" lvl="1" indent="-457200">
              <a:lnSpc>
                <a:spcPct val="90000"/>
              </a:lnSpc>
              <a:buClr>
                <a:srgbClr val="B96C11"/>
              </a:buClr>
              <a:buFont typeface="Courier New"/>
              <a:buChar char="o"/>
            </a:pPr>
            <a:r>
              <a:rPr lang="en-US" dirty="0"/>
              <a:t>Extracted Labels(A,B,C) for testing</a:t>
            </a:r>
          </a:p>
          <a:p>
            <a:pPr marL="914400" lvl="1" indent="-457200">
              <a:lnSpc>
                <a:spcPct val="90000"/>
              </a:lnSpc>
              <a:buClr>
                <a:srgbClr val="B96C11"/>
              </a:buClr>
              <a:buFont typeface="Courier New"/>
              <a:buChar char="o"/>
            </a:pPr>
            <a:r>
              <a:rPr lang="en-US" dirty="0"/>
              <a:t>Converted CSV -&gt; 28*28 grayscale tensors</a:t>
            </a:r>
          </a:p>
          <a:p>
            <a:pPr marL="914400" lvl="1" indent="-457200">
              <a:lnSpc>
                <a:spcPct val="90000"/>
              </a:lnSpc>
              <a:buClr>
                <a:srgbClr val="B96C11"/>
              </a:buClr>
              <a:buFont typeface="Courier New"/>
              <a:buChar char="o"/>
            </a:pPr>
            <a:r>
              <a:rPr lang="en-US" dirty="0"/>
              <a:t>Normalized and batched with </a:t>
            </a:r>
            <a:r>
              <a:rPr lang="en-US" dirty="0" err="1"/>
              <a:t>DataLoader</a:t>
            </a:r>
            <a:endParaRPr lang="en-US" err="1"/>
          </a:p>
          <a:p>
            <a:pPr marL="457200" indent="-457200">
              <a:lnSpc>
                <a:spcPct val="90000"/>
              </a:lnSpc>
              <a:buClr>
                <a:srgbClr val="B96C11"/>
              </a:buClr>
              <a:buAutoNum type="arabicPeriod"/>
            </a:pPr>
            <a:r>
              <a:rPr lang="en-US" dirty="0"/>
              <a:t>CNN Model</a:t>
            </a:r>
            <a:endParaRPr lang="en-US"/>
          </a:p>
          <a:p>
            <a:pPr marL="914400" lvl="1" indent="-457200">
              <a:lnSpc>
                <a:spcPct val="90000"/>
              </a:lnSpc>
              <a:buClr>
                <a:srgbClr val="B96C11"/>
              </a:buClr>
              <a:buFont typeface="Courier New"/>
              <a:buChar char="o"/>
            </a:pPr>
            <a:r>
              <a:rPr lang="en-US" dirty="0"/>
              <a:t>Custom architecture, trained 10 epochs</a:t>
            </a:r>
          </a:p>
          <a:p>
            <a:pPr marL="914400" lvl="1" indent="-457200">
              <a:lnSpc>
                <a:spcPct val="90000"/>
              </a:lnSpc>
              <a:buClr>
                <a:srgbClr val="B96C11"/>
              </a:buClr>
              <a:buFont typeface="Courier New"/>
              <a:buChar char="o"/>
            </a:pPr>
            <a:r>
              <a:rPr lang="en-US" dirty="0"/>
              <a:t>Achieved 100% accuracy on test data</a:t>
            </a:r>
            <a:endParaRPr lang="en-US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BC0ED36-1C34-BA7F-0614-952180395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363" y="223330"/>
            <a:ext cx="3335944" cy="294199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235C128-2F1B-725A-B94F-A0DA282B8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3" y="3457309"/>
            <a:ext cx="3950079" cy="238979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454977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83D8D-F9E4-11DB-E858-64D661EF2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205" y="812960"/>
            <a:ext cx="8492598" cy="5127732"/>
          </a:xfrm>
        </p:spPr>
        <p:txBody>
          <a:bodyPr>
            <a:normAutofit/>
          </a:bodyPr>
          <a:lstStyle/>
          <a:p>
            <a:pPr marL="0" indent="0">
              <a:buClr>
                <a:srgbClr val="B96C11"/>
              </a:buClr>
              <a:buNone/>
            </a:pPr>
            <a:r>
              <a:rPr lang="en-US" sz="2800" b="1" dirty="0"/>
              <a:t>3. Live Gesture Detection</a:t>
            </a:r>
          </a:p>
          <a:p>
            <a:pPr marL="457200" indent="-457200"/>
            <a:r>
              <a:rPr lang="en-US" sz="2000" dirty="0"/>
              <a:t>Load Model(</a:t>
            </a:r>
            <a:r>
              <a:rPr lang="en-US" sz="2000" err="1"/>
              <a:t>Sign_Language_cnn.pth</a:t>
            </a:r>
            <a:r>
              <a:rPr lang="en-US" sz="2000" dirty="0"/>
              <a:t>)</a:t>
            </a:r>
          </a:p>
          <a:p>
            <a:pPr marL="457200" indent="-457200">
              <a:buClr>
                <a:srgbClr val="B96C11"/>
              </a:buClr>
            </a:pPr>
            <a:r>
              <a:rPr lang="en-US" sz="2000" dirty="0"/>
              <a:t>Capture webcam input (OpenCV)</a:t>
            </a:r>
          </a:p>
          <a:p>
            <a:pPr marL="457200" indent="-457200">
              <a:buClr>
                <a:srgbClr val="B96C11"/>
              </a:buClr>
            </a:pPr>
            <a:r>
              <a:rPr lang="en-US" sz="2000" dirty="0"/>
              <a:t>Detect hand(</a:t>
            </a:r>
            <a:r>
              <a:rPr lang="en-US" sz="2000" err="1"/>
              <a:t>cvzone.HandTrackinModule</a:t>
            </a:r>
            <a:r>
              <a:rPr lang="en-US" sz="2000" dirty="0"/>
              <a:t>)</a:t>
            </a:r>
          </a:p>
          <a:p>
            <a:pPr marL="457200" indent="-457200">
              <a:buClr>
                <a:srgbClr val="B96C11"/>
              </a:buClr>
            </a:pPr>
            <a:r>
              <a:rPr lang="en-US" sz="2000" dirty="0"/>
              <a:t>The hand is cropped to 28*28 and then to grayscale</a:t>
            </a:r>
          </a:p>
          <a:p>
            <a:pPr marL="457200" indent="-457200">
              <a:buClr>
                <a:srgbClr val="B96C11"/>
              </a:buClr>
            </a:pPr>
            <a:r>
              <a:rPr lang="en-US" sz="2000" dirty="0"/>
              <a:t>Predicted gesture in Real- Time</a:t>
            </a:r>
          </a:p>
        </p:txBody>
      </p:sp>
    </p:spTree>
    <p:extLst>
      <p:ext uri="{BB962C8B-B14F-4D97-AF65-F5344CB8AC3E}">
        <p14:creationId xmlns:p14="http://schemas.microsoft.com/office/powerpoint/2010/main" val="4184328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86AD7E2-2E0A-48BB-9A14-7AEAEFCF3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2E5057-6707-41F3-BA9F-4B8F39763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76488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66DDDB-DC95-C85A-C31F-815425F449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77" r="3" b="3"/>
          <a:stretch>
            <a:fillRect/>
          </a:stretch>
        </p:blipFill>
        <p:spPr>
          <a:xfrm>
            <a:off x="643467" y="643467"/>
            <a:ext cx="5149166" cy="557106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26F0241-EB18-4747-972F-5A4B3EC51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75233" y="480060"/>
            <a:ext cx="5476488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31221B-16F5-E096-F306-1EA13E1A96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270"/>
          <a:stretch>
            <a:fillRect/>
          </a:stretch>
        </p:blipFill>
        <p:spPr>
          <a:xfrm>
            <a:off x="6441688" y="643467"/>
            <a:ext cx="51491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73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3016-464B-0D7C-D715-FC9BD2495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A033B-8302-851B-8517-F19A108E7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Dataset: 100% accuracy</a:t>
            </a:r>
          </a:p>
          <a:p>
            <a:pPr>
              <a:buClr>
                <a:srgbClr val="B96C11"/>
              </a:buClr>
            </a:pPr>
            <a:r>
              <a:rPr lang="en-US" dirty="0"/>
              <a:t>Live Detection: Detected A,B,C but lower accuracy</a:t>
            </a:r>
          </a:p>
          <a:p>
            <a:pPr>
              <a:buClr>
                <a:srgbClr val="B96C11"/>
              </a:buClr>
            </a:pPr>
            <a:r>
              <a:rPr lang="en-US" dirty="0"/>
              <a:t>Limitation: Real-world lighting, hand alignment effect performance and motion gestures cannot be recognized by this method</a:t>
            </a:r>
          </a:p>
        </p:txBody>
      </p:sp>
    </p:spTree>
    <p:extLst>
      <p:ext uri="{BB962C8B-B14F-4D97-AF65-F5344CB8AC3E}">
        <p14:creationId xmlns:p14="http://schemas.microsoft.com/office/powerpoint/2010/main" val="3089416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DE63-85E2-60CF-BF26-94A8AEDD3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A58C-68D9-2DB9-84F1-81C66A302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CNN successfully recognized hand gestures</a:t>
            </a:r>
          </a:p>
          <a:p>
            <a:pPr>
              <a:buClr>
                <a:srgbClr val="B96C11"/>
              </a:buClr>
            </a:pPr>
            <a:r>
              <a:rPr lang="en-US" dirty="0"/>
              <a:t>.</a:t>
            </a:r>
            <a:r>
              <a:rPr lang="en-US" dirty="0" err="1"/>
              <a:t>pth</a:t>
            </a:r>
            <a:r>
              <a:rPr lang="en-US" dirty="0"/>
              <a:t> model </a:t>
            </a:r>
            <a:r>
              <a:rPr lang="en-US" dirty="0" err="1"/>
              <a:t>resuable</a:t>
            </a:r>
            <a:r>
              <a:rPr lang="en-US" dirty="0"/>
              <a:t> for real-time </a:t>
            </a:r>
            <a:r>
              <a:rPr lang="en-US" dirty="0" err="1"/>
              <a:t>prediciton</a:t>
            </a:r>
          </a:p>
          <a:p>
            <a:pPr>
              <a:buClr>
                <a:srgbClr val="B96C11"/>
              </a:buClr>
            </a:pPr>
            <a:r>
              <a:rPr lang="en-US" dirty="0"/>
              <a:t>Can be </a:t>
            </a:r>
            <a:r>
              <a:rPr lang="en-US" dirty="0" err="1"/>
              <a:t>exteded</a:t>
            </a:r>
            <a:r>
              <a:rPr lang="en-US" dirty="0"/>
              <a:t> to more letter and gestures</a:t>
            </a:r>
          </a:p>
          <a:p>
            <a:pPr>
              <a:buClr>
                <a:srgbClr val="B96C11"/>
              </a:buClr>
            </a:pPr>
            <a:r>
              <a:rPr lang="en-US" dirty="0"/>
              <a:t>In Future it can be improved accuracy with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911558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B65C-2A5F-89EB-DBD1-7A4D66357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10697-AE96-B4B1-70D0-FDD92FFDE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Center: ICFOSS</a:t>
            </a:r>
          </a:p>
          <a:p>
            <a:pPr>
              <a:buClr>
                <a:srgbClr val="B96C11"/>
              </a:buClr>
            </a:pPr>
            <a:r>
              <a:rPr lang="en-US" dirty="0"/>
              <a:t>Online Course: Deep Learning</a:t>
            </a:r>
          </a:p>
          <a:p>
            <a:pPr>
              <a:buClr>
                <a:srgbClr val="B96C11"/>
              </a:buClr>
            </a:pPr>
            <a:r>
              <a:rPr lang="en-US" dirty="0"/>
              <a:t>Dataset Source: </a:t>
            </a:r>
            <a:r>
              <a:rPr lang="en-US" dirty="0">
                <a:hlinkClick r:id="rId2"/>
              </a:rPr>
              <a:t>Kaggle MNIST sign Language</a:t>
            </a:r>
            <a:endParaRPr lang="en-US" dirty="0"/>
          </a:p>
          <a:p>
            <a:pPr>
              <a:buClr>
                <a:srgbClr val="B96C11"/>
              </a:buClr>
            </a:pPr>
            <a:r>
              <a:rPr lang="en-US" dirty="0"/>
              <a:t>Tutorial Reference: </a:t>
            </a:r>
            <a:r>
              <a:rPr lang="en-US" dirty="0">
                <a:hlinkClick r:id="rId3"/>
              </a:rPr>
              <a:t>Murtaza's Workshop</a:t>
            </a:r>
          </a:p>
          <a:p>
            <a:pPr>
              <a:buClr>
                <a:srgbClr val="B96C11"/>
              </a:buClr>
            </a:pPr>
            <a:r>
              <a:rPr lang="en-US" dirty="0"/>
              <a:t>Additional support: online resources and AI assistance</a:t>
            </a:r>
          </a:p>
        </p:txBody>
      </p:sp>
    </p:spTree>
    <p:extLst>
      <p:ext uri="{BB962C8B-B14F-4D97-AF65-F5344CB8AC3E}">
        <p14:creationId xmlns:p14="http://schemas.microsoft.com/office/powerpoint/2010/main" val="23002364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Parallax</vt:lpstr>
      <vt:lpstr>Sign Language Translator Using CNN and CVZONE</vt:lpstr>
      <vt:lpstr>Project Overview </vt:lpstr>
      <vt:lpstr>About The Dataset</vt:lpstr>
      <vt:lpstr>Implementation Setup</vt:lpstr>
      <vt:lpstr>Methodology</vt:lpstr>
      <vt:lpstr>PowerPoint Presentation</vt:lpstr>
      <vt:lpstr>PowerPoint Presentation</vt:lpstr>
      <vt:lpstr>Results</vt:lpstr>
      <vt:lpstr>Conclusion</vt:lpstr>
      <vt:lpstr>Acknowledgement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300</cp:revision>
  <dcterms:created xsi:type="dcterms:W3CDTF">2025-09-25T06:58:45Z</dcterms:created>
  <dcterms:modified xsi:type="dcterms:W3CDTF">2025-09-25T08:18:00Z</dcterms:modified>
</cp:coreProperties>
</file>